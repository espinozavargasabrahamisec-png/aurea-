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7" r:id="rId1"/>
  </p:sldMasterIdLst>
  <p:notesMasterIdLst>
    <p:notesMasterId r:id="rId7"/>
  </p:notesMasterIdLst>
  <p:sldIdLst>
    <p:sldId id="256" r:id="rId2"/>
    <p:sldId id="257" r:id="rId3"/>
    <p:sldId id="306" r:id="rId4"/>
    <p:sldId id="307" r:id="rId5"/>
    <p:sldId id="27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9" autoAdjust="0"/>
    <p:restoredTop sz="94660"/>
  </p:normalViewPr>
  <p:slideViewPr>
    <p:cSldViewPr snapToGrid="0">
      <p:cViewPr varScale="1">
        <p:scale>
          <a:sx n="74" d="100"/>
          <a:sy n="74" d="100"/>
        </p:scale>
        <p:origin x="4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5F73C-0F6C-449F-8700-933A5ABDA91C}" type="datetimeFigureOut">
              <a:rPr lang="es-ES" smtClean="0"/>
              <a:t>23/09/2025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234D0-B28D-477E-B5EF-A1CB4A5EE5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217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5132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8ABE3C1-DBE1-495D-B57B-2849774B866A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145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368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73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3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26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89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06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99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80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29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E61D-D431-422C-9764-11DAFE33AB63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092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3213483" y="2127701"/>
            <a:ext cx="8428800" cy="4003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11330665" y="6251677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96587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80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CBFE1-8A9E-0DF8-5144-3B1F4DE5A3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0D40EA-B373-B2B5-51F3-1BB46E7399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7913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CB909-4714-72ED-5FEF-05D93E5D2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079EC4-267C-8513-BA39-FD6CEBA6F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49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title"/>
          </p:nvPr>
        </p:nvSpPr>
        <p:spPr>
          <a:xfrm>
            <a:off x="3655155" y="162199"/>
            <a:ext cx="3595651" cy="581416"/>
          </a:xfrm>
          <a:prstGeom prst="rect">
            <a:avLst/>
          </a:prstGeom>
        </p:spPr>
        <p:txBody>
          <a:bodyPr vert="horz" lIns="121900" tIns="121900" rIns="121900" bIns="121900" rtlCol="0" anchor="t" anchorCtr="0">
            <a:noAutofit/>
          </a:bodyPr>
          <a:lstStyle/>
          <a:p>
            <a:r>
              <a:rPr lang="es-BO" sz="2800" dirty="0">
                <a:solidFill>
                  <a:srgbClr val="FF0000"/>
                </a:solidFill>
              </a:rPr>
              <a:t>	</a:t>
            </a:r>
            <a:r>
              <a:rPr lang="es-BO" sz="2800" b="1" i="0" dirty="0">
                <a:solidFill>
                  <a:schemeClr val="tx1"/>
                </a:solidFill>
                <a:effectLst/>
                <a:latin typeface="Helvetica Neue"/>
              </a:rPr>
              <a:t>Audiometría:</a:t>
            </a:r>
            <a:br>
              <a:rPr lang="es-BO" sz="2000" b="1" i="0" dirty="0">
                <a:solidFill>
                  <a:schemeClr val="tx1"/>
                </a:solidFill>
                <a:effectLst/>
                <a:latin typeface="Helvetica Neue"/>
              </a:rPr>
            </a:br>
            <a:endParaRPr lang="es-BO" sz="4000" b="1" dirty="0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86400B3-9E3A-4A0E-1A41-B274A4338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678" y="714334"/>
            <a:ext cx="5072515" cy="601074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700A882-30F9-F478-FABA-E3680882DACD}"/>
              </a:ext>
            </a:extLst>
          </p:cNvPr>
          <p:cNvSpPr txBox="1"/>
          <p:nvPr/>
        </p:nvSpPr>
        <p:spPr>
          <a:xfrm>
            <a:off x="9205174" y="1315722"/>
            <a:ext cx="28494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i="0" dirty="0">
                <a:effectLst/>
                <a:latin typeface="Helvetica Neue"/>
              </a:rPr>
              <a:t>La ‘banana del habla’</a:t>
            </a:r>
            <a:endParaRPr lang="es-ES" sz="2000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5121993-3E4F-0064-60DB-F4BC5675DAAE}"/>
              </a:ext>
            </a:extLst>
          </p:cNvPr>
          <p:cNvCxnSpPr>
            <a:cxnSpLocks/>
          </p:cNvCxnSpPr>
          <p:nvPr/>
        </p:nvCxnSpPr>
        <p:spPr>
          <a:xfrm rot="-240000" flipH="1">
            <a:off x="7972023" y="1815921"/>
            <a:ext cx="1481070" cy="695459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AFFD92E9-534D-3346-9F25-FA237117AD73}"/>
              </a:ext>
            </a:extLst>
          </p:cNvPr>
          <p:cNvSpPr txBox="1"/>
          <p:nvPr/>
        </p:nvSpPr>
        <p:spPr>
          <a:xfrm>
            <a:off x="642924" y="236450"/>
            <a:ext cx="17697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i="0" dirty="0">
                <a:effectLst/>
                <a:latin typeface="Helvetica Neue"/>
              </a:rPr>
              <a:t>Frecuencia’</a:t>
            </a:r>
          </a:p>
          <a:p>
            <a:pPr algn="ctr"/>
            <a:r>
              <a:rPr lang="es-MX" sz="2000" b="1" dirty="0">
                <a:latin typeface="Helvetica Neue"/>
              </a:rPr>
              <a:t>Hz</a:t>
            </a:r>
            <a:endParaRPr lang="es-ES" sz="2000" dirty="0"/>
          </a:p>
        </p:txBody>
      </p:sp>
      <p:sp>
        <p:nvSpPr>
          <p:cNvPr id="7" name="Abrir corchete 6">
            <a:extLst>
              <a:ext uri="{FF2B5EF4-FFF2-40B4-BE49-F238E27FC236}">
                <a16:creationId xmlns:a16="http://schemas.microsoft.com/office/drawing/2014/main" id="{880078D7-0C3D-FEBF-8DC6-AE4A1B57D09E}"/>
              </a:ext>
            </a:extLst>
          </p:cNvPr>
          <p:cNvSpPr/>
          <p:nvPr/>
        </p:nvSpPr>
        <p:spPr>
          <a:xfrm rot="5400000">
            <a:off x="5662946" y="-1305200"/>
            <a:ext cx="483491" cy="4499072"/>
          </a:xfrm>
          <a:prstGeom prst="leftBracket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EA4AF65-CE20-555D-89E1-46C8A56BD381}"/>
              </a:ext>
            </a:extLst>
          </p:cNvPr>
          <p:cNvCxnSpPr>
            <a:cxnSpLocks/>
          </p:cNvCxnSpPr>
          <p:nvPr/>
        </p:nvCxnSpPr>
        <p:spPr>
          <a:xfrm flipH="1" flipV="1">
            <a:off x="2412697" y="527158"/>
            <a:ext cx="1412328" cy="175432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Abrir corchete 14">
            <a:extLst>
              <a:ext uri="{FF2B5EF4-FFF2-40B4-BE49-F238E27FC236}">
                <a16:creationId xmlns:a16="http://schemas.microsoft.com/office/drawing/2014/main" id="{B14358DC-00E1-C401-98C6-504EE0FF9DCB}"/>
              </a:ext>
            </a:extLst>
          </p:cNvPr>
          <p:cNvSpPr/>
          <p:nvPr/>
        </p:nvSpPr>
        <p:spPr>
          <a:xfrm>
            <a:off x="2614411" y="1108574"/>
            <a:ext cx="1040744" cy="5046836"/>
          </a:xfrm>
          <a:prstGeom prst="leftBracket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21AB460-1C00-742E-5D5B-FB49AF858375}"/>
              </a:ext>
            </a:extLst>
          </p:cNvPr>
          <p:cNvSpPr txBox="1"/>
          <p:nvPr/>
        </p:nvSpPr>
        <p:spPr>
          <a:xfrm rot="16200000">
            <a:off x="1249915" y="3516668"/>
            <a:ext cx="19714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latin typeface="Helvetica Neue"/>
              </a:rPr>
              <a:t>Volumen</a:t>
            </a:r>
            <a:r>
              <a:rPr lang="es-MX" sz="2000" b="1" i="0" dirty="0">
                <a:solidFill>
                  <a:schemeClr val="bg1"/>
                </a:solidFill>
                <a:effectLst/>
                <a:latin typeface="Helvetica Neue"/>
              </a:rPr>
              <a:t>’</a:t>
            </a:r>
          </a:p>
          <a:p>
            <a:pPr algn="ctr"/>
            <a:r>
              <a:rPr lang="es-MX" sz="2000" b="1" dirty="0">
                <a:latin typeface="Helvetica Neue"/>
              </a:rPr>
              <a:t>DB</a:t>
            </a:r>
            <a:endParaRPr lang="es-ES" sz="2000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B2B71035-E9A0-179F-2680-D5FE04BACCC6}"/>
              </a:ext>
            </a:extLst>
          </p:cNvPr>
          <p:cNvSpPr/>
          <p:nvPr/>
        </p:nvSpPr>
        <p:spPr>
          <a:xfrm>
            <a:off x="5643563" y="892953"/>
            <a:ext cx="542925" cy="3804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>
                <a:solidFill>
                  <a:schemeClr val="tx1"/>
                </a:solidFill>
              </a:rPr>
              <a:t>100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57ACBB52-3BE2-52F4-E47B-145F70BFE1D4}"/>
              </a:ext>
            </a:extLst>
          </p:cNvPr>
          <p:cNvCxnSpPr>
            <a:cxnSpLocks/>
          </p:cNvCxnSpPr>
          <p:nvPr/>
        </p:nvCxnSpPr>
        <p:spPr>
          <a:xfrm flipV="1">
            <a:off x="5904691" y="652260"/>
            <a:ext cx="2632014" cy="3477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C4697B5-AABF-6D4A-9962-94D1B69D5040}"/>
              </a:ext>
            </a:extLst>
          </p:cNvPr>
          <p:cNvSpPr txBox="1"/>
          <p:nvPr/>
        </p:nvSpPr>
        <p:spPr>
          <a:xfrm>
            <a:off x="8493265" y="462273"/>
            <a:ext cx="1084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i="0" dirty="0">
                <a:effectLst/>
                <a:latin typeface="Helvetica Neue"/>
              </a:rPr>
              <a:t>Pura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924124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B88C3-E3CD-B5F5-F640-8445E76A6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916" y="727100"/>
            <a:ext cx="4707295" cy="674501"/>
          </a:xfrm>
        </p:spPr>
        <p:txBody>
          <a:bodyPr>
            <a:normAutofit fontScale="90000"/>
          </a:bodyPr>
          <a:lstStyle/>
          <a:p>
            <a:pPr algn="ctr"/>
            <a:r>
              <a:rPr lang="es-ES" altLang="es-ES" b="1" dirty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ANATOMIA DEL OÍDO</a:t>
            </a:r>
            <a:br>
              <a:rPr lang="es-ES" altLang="es-ES" b="1" dirty="0">
                <a:solidFill>
                  <a:schemeClr val="accent4"/>
                </a:solidFill>
                <a:latin typeface="Tahoma" panose="020B0604030504040204" pitchFamily="34" charset="0"/>
                <a:cs typeface="Tahoma" panose="020B0604030504040204" pitchFamily="34" charset="0"/>
              </a:rPr>
            </a:b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9875C9-11D9-78BA-B318-229984E17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294" y="1267361"/>
            <a:ext cx="7691764" cy="4721871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8F6D3A2-5903-8043-1DBA-66F34C222239}"/>
              </a:ext>
            </a:extLst>
          </p:cNvPr>
          <p:cNvSpPr/>
          <p:nvPr/>
        </p:nvSpPr>
        <p:spPr>
          <a:xfrm>
            <a:off x="4443211" y="1401601"/>
            <a:ext cx="2717443" cy="118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744D5E-6AC4-A088-C54C-7E7B1A72B50B}"/>
              </a:ext>
            </a:extLst>
          </p:cNvPr>
          <p:cNvSpPr/>
          <p:nvPr/>
        </p:nvSpPr>
        <p:spPr>
          <a:xfrm>
            <a:off x="7160655" y="1401601"/>
            <a:ext cx="978794" cy="11810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612787B-5E58-B7F4-AC35-04E2887D4299}"/>
              </a:ext>
            </a:extLst>
          </p:cNvPr>
          <p:cNvSpPr/>
          <p:nvPr/>
        </p:nvSpPr>
        <p:spPr>
          <a:xfrm>
            <a:off x="8139449" y="1383381"/>
            <a:ext cx="1157383" cy="13632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2446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76284" y="307976"/>
            <a:ext cx="7839432" cy="836613"/>
          </a:xfrm>
        </p:spPr>
        <p:txBody>
          <a:bodyPr>
            <a:noAutofit/>
          </a:bodyPr>
          <a:lstStyle/>
          <a:p>
            <a:pPr algn="ctr"/>
            <a:r>
              <a:rPr lang="es-ES" altLang="es-E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FUNCIONAMIENTO DEL OÍDO</a:t>
            </a:r>
          </a:p>
        </p:txBody>
      </p:sp>
      <p:sp>
        <p:nvSpPr>
          <p:cNvPr id="7" name="Rectángulo 6"/>
          <p:cNvSpPr/>
          <p:nvPr/>
        </p:nvSpPr>
        <p:spPr>
          <a:xfrm>
            <a:off x="2880518" y="2038352"/>
            <a:ext cx="1758950" cy="29987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OÍDO MEDIO:</a:t>
            </a:r>
          </a:p>
          <a:p>
            <a:pPr algn="ctr">
              <a:defRPr/>
            </a:pPr>
            <a:r>
              <a:rPr lang="es-E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Amplifica y transporta las ondas hacia el oído interno</a:t>
            </a:r>
          </a:p>
        </p:txBody>
      </p:sp>
      <p:sp>
        <p:nvSpPr>
          <p:cNvPr id="8" name="Rectángulo 7"/>
          <p:cNvSpPr/>
          <p:nvPr/>
        </p:nvSpPr>
        <p:spPr>
          <a:xfrm>
            <a:off x="5028406" y="2116139"/>
            <a:ext cx="1844675" cy="33305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OÍDO INTERNO:</a:t>
            </a:r>
          </a:p>
          <a:p>
            <a:pPr algn="ctr">
              <a:defRPr/>
            </a:pPr>
            <a:r>
              <a:rPr lang="es-E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Transforma las vibraciones sonoras en impulsos eléctricos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685005" y="2005014"/>
            <a:ext cx="1912938" cy="36941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OIDO EXTERNO: </a:t>
            </a:r>
            <a:r>
              <a:rPr lang="es-E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capta las ondas sonoras y las transporta hasta la membrana del tímpano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7262019" y="2965451"/>
            <a:ext cx="1990725" cy="2616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NERVIO AUDITIVO:</a:t>
            </a:r>
          </a:p>
          <a:p>
            <a:pPr algn="ctr">
              <a:defRPr/>
            </a:pPr>
            <a:r>
              <a:rPr lang="es-E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Transmite los impulsos eléctricos hasta el cerebro</a:t>
            </a:r>
          </a:p>
        </p:txBody>
      </p:sp>
      <p:sp>
        <p:nvSpPr>
          <p:cNvPr id="21" name="Elipse 20"/>
          <p:cNvSpPr/>
          <p:nvPr/>
        </p:nvSpPr>
        <p:spPr>
          <a:xfrm>
            <a:off x="6957219" y="1244602"/>
            <a:ext cx="2600325" cy="129698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CEREBRO: </a:t>
            </a:r>
            <a:r>
              <a:rPr lang="es-E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Decodifica el mensaje</a:t>
            </a:r>
          </a:p>
        </p:txBody>
      </p:sp>
      <p:sp>
        <p:nvSpPr>
          <p:cNvPr id="22" name="Flecha curvada hacia abajo 21"/>
          <p:cNvSpPr/>
          <p:nvPr/>
        </p:nvSpPr>
        <p:spPr>
          <a:xfrm>
            <a:off x="1956594" y="1327152"/>
            <a:ext cx="1849437" cy="61118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solidFill>
                <a:schemeClr val="tx1"/>
              </a:solidFill>
            </a:endParaRPr>
          </a:p>
        </p:txBody>
      </p:sp>
      <p:sp>
        <p:nvSpPr>
          <p:cNvPr id="25" name="Flecha curvada hacia abajo 24"/>
          <p:cNvSpPr/>
          <p:nvPr/>
        </p:nvSpPr>
        <p:spPr>
          <a:xfrm>
            <a:off x="4507705" y="1401763"/>
            <a:ext cx="1212850" cy="52705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solidFill>
                <a:schemeClr val="tx1"/>
              </a:solidFill>
            </a:endParaRPr>
          </a:p>
        </p:txBody>
      </p:sp>
      <p:sp>
        <p:nvSpPr>
          <p:cNvPr id="26" name="Flecha curvada hacia arriba 25"/>
          <p:cNvSpPr/>
          <p:nvPr/>
        </p:nvSpPr>
        <p:spPr>
          <a:xfrm>
            <a:off x="6404768" y="5634039"/>
            <a:ext cx="1295400" cy="68262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solidFill>
                <a:schemeClr val="tx1"/>
              </a:solidFill>
            </a:endParaRPr>
          </a:p>
        </p:txBody>
      </p:sp>
      <p:sp>
        <p:nvSpPr>
          <p:cNvPr id="27" name="Flecha arriba 26"/>
          <p:cNvSpPr/>
          <p:nvPr/>
        </p:nvSpPr>
        <p:spPr>
          <a:xfrm>
            <a:off x="8089106" y="2554289"/>
            <a:ext cx="334963" cy="39846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193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15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27" grpId="0" animBg="1"/>
    </p:bldLst>
  </p:timing>
</p:sld>
</file>

<file path=ppt/theme/theme1.xml><?xml version="1.0" encoding="utf-8"?>
<a:theme xmlns:a="http://schemas.openxmlformats.org/drawingml/2006/main" name="Base">
  <a:themeElements>
    <a:clrScheme name="Base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21</TotalTime>
  <Words>77</Words>
  <Application>Microsoft Office PowerPoint</Application>
  <PresentationFormat>Panorámica</PresentationFormat>
  <Paragraphs>18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Corbel</vt:lpstr>
      <vt:lpstr>Helvetica Neue</vt:lpstr>
      <vt:lpstr>Tahoma</vt:lpstr>
      <vt:lpstr>Base</vt:lpstr>
      <vt:lpstr>Presentación de PowerPoint</vt:lpstr>
      <vt:lpstr>Presentación de PowerPoint</vt:lpstr>
      <vt:lpstr> Audiometría: </vt:lpstr>
      <vt:lpstr>ANATOMIA DEL OÍDO </vt:lpstr>
      <vt:lpstr>FUNCIONAMIENTO DEL OÍDO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Windows10</dc:creator>
  <cp:lastModifiedBy>Windows10</cp:lastModifiedBy>
  <cp:revision>1</cp:revision>
  <dcterms:created xsi:type="dcterms:W3CDTF">2025-09-23T02:49:05Z</dcterms:created>
  <dcterms:modified xsi:type="dcterms:W3CDTF">2025-09-23T03:10:13Z</dcterms:modified>
</cp:coreProperties>
</file>